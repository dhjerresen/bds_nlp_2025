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llemlayout 4 - Markering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yst layout 3 - Markering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1"/>
  </p:normalViewPr>
  <p:slideViewPr>
    <p:cSldViewPr snapToGrid="0">
      <p:cViewPr>
        <p:scale>
          <a:sx n="98" d="100"/>
          <a:sy n="98" d="100"/>
        </p:scale>
        <p:origin x="113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EFE00F-FA8B-4565-8C42-8DBB92E0DA2A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C1FC03-121F-46BE-9DE9-A737AE28AE8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Local model to extract risk statements</a:t>
          </a:r>
          <a:endParaRPr lang="en-US"/>
        </a:p>
      </dgm:t>
    </dgm:pt>
    <dgm:pt modelId="{D39832FE-CDC1-4A4F-81BD-7A88F463517B}" type="parTrans" cxnId="{9C93EF5B-772A-48DD-AEF5-372BDBF4EE67}">
      <dgm:prSet/>
      <dgm:spPr/>
      <dgm:t>
        <a:bodyPr/>
        <a:lstStyle/>
        <a:p>
          <a:endParaRPr lang="en-US"/>
        </a:p>
      </dgm:t>
    </dgm:pt>
    <dgm:pt modelId="{F7633DA1-38E1-43C9-975C-4E31E87DA00A}" type="sibTrans" cxnId="{9C93EF5B-772A-48DD-AEF5-372BDBF4EE67}">
      <dgm:prSet/>
      <dgm:spPr/>
      <dgm:t>
        <a:bodyPr/>
        <a:lstStyle/>
        <a:p>
          <a:endParaRPr lang="en-US"/>
        </a:p>
      </dgm:t>
    </dgm:pt>
    <dgm:pt modelId="{BA5A5ADF-60D7-496C-A4D4-F94C59BCEB9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Limited to 5000 characters for speed</a:t>
          </a:r>
          <a:endParaRPr lang="en-US"/>
        </a:p>
      </dgm:t>
    </dgm:pt>
    <dgm:pt modelId="{4DF7BCE9-C79E-4730-9F27-B47BB290FCC0}" type="parTrans" cxnId="{1BB92993-71E7-4D88-8222-A5F292E06E4E}">
      <dgm:prSet/>
      <dgm:spPr/>
      <dgm:t>
        <a:bodyPr/>
        <a:lstStyle/>
        <a:p>
          <a:endParaRPr lang="en-US"/>
        </a:p>
      </dgm:t>
    </dgm:pt>
    <dgm:pt modelId="{DB2B476F-054B-4CF9-917C-BB6729431BC6}" type="sibTrans" cxnId="{1BB92993-71E7-4D88-8222-A5F292E06E4E}">
      <dgm:prSet/>
      <dgm:spPr/>
      <dgm:t>
        <a:bodyPr/>
        <a:lstStyle/>
        <a:p>
          <a:endParaRPr lang="en-US"/>
        </a:p>
      </dgm:t>
    </dgm:pt>
    <dgm:pt modelId="{DF19E5BA-9873-4698-973C-A9A60FF05E4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Output to JSON</a:t>
          </a:r>
          <a:endParaRPr lang="en-US"/>
        </a:p>
      </dgm:t>
    </dgm:pt>
    <dgm:pt modelId="{98499726-D5DE-49F7-9465-8A7CE1FE210A}" type="parTrans" cxnId="{17CB764B-B221-4256-AEB5-0259C2485881}">
      <dgm:prSet/>
      <dgm:spPr/>
      <dgm:t>
        <a:bodyPr/>
        <a:lstStyle/>
        <a:p>
          <a:endParaRPr lang="en-US"/>
        </a:p>
      </dgm:t>
    </dgm:pt>
    <dgm:pt modelId="{12B1423A-A237-4782-B8FC-E474C49179B2}" type="sibTrans" cxnId="{17CB764B-B221-4256-AEB5-0259C2485881}">
      <dgm:prSet/>
      <dgm:spPr/>
      <dgm:t>
        <a:bodyPr/>
        <a:lstStyle/>
        <a:p>
          <a:endParaRPr lang="en-US"/>
        </a:p>
      </dgm:t>
    </dgm:pt>
    <dgm:pt modelId="{7F5F5DED-E6FA-4514-B55A-09717768415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Transcript id – for later manuel assement of the model’s performance</a:t>
          </a:r>
          <a:endParaRPr lang="en-US"/>
        </a:p>
      </dgm:t>
    </dgm:pt>
    <dgm:pt modelId="{0F6E6593-A336-4757-AC21-DCE5416C4993}" type="parTrans" cxnId="{BEC9C155-B23D-4681-B3B9-834DA716CB71}">
      <dgm:prSet/>
      <dgm:spPr/>
      <dgm:t>
        <a:bodyPr/>
        <a:lstStyle/>
        <a:p>
          <a:endParaRPr lang="en-US"/>
        </a:p>
      </dgm:t>
    </dgm:pt>
    <dgm:pt modelId="{B91E64CC-6797-44D5-9A0F-36C6E4D4F0DE}" type="sibTrans" cxnId="{BEC9C155-B23D-4681-B3B9-834DA716CB71}">
      <dgm:prSet/>
      <dgm:spPr/>
      <dgm:t>
        <a:bodyPr/>
        <a:lstStyle/>
        <a:p>
          <a:endParaRPr lang="en-US"/>
        </a:p>
      </dgm:t>
    </dgm:pt>
    <dgm:pt modelId="{497776B0-D2C4-4303-A58C-2FB035B3BD9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Company</a:t>
          </a:r>
          <a:endParaRPr lang="en-US"/>
        </a:p>
      </dgm:t>
    </dgm:pt>
    <dgm:pt modelId="{62443BFB-27FB-4554-A4FE-724D4ADC23E3}" type="parTrans" cxnId="{00765AA5-E196-42C8-957C-AF217252C6D1}">
      <dgm:prSet/>
      <dgm:spPr/>
      <dgm:t>
        <a:bodyPr/>
        <a:lstStyle/>
        <a:p>
          <a:endParaRPr lang="en-US"/>
        </a:p>
      </dgm:t>
    </dgm:pt>
    <dgm:pt modelId="{02EF68A7-4565-479D-B22E-7239213F3DD2}" type="sibTrans" cxnId="{00765AA5-E196-42C8-957C-AF217252C6D1}">
      <dgm:prSet/>
      <dgm:spPr/>
      <dgm:t>
        <a:bodyPr/>
        <a:lstStyle/>
        <a:p>
          <a:endParaRPr lang="en-US"/>
        </a:p>
      </dgm:t>
    </dgm:pt>
    <dgm:pt modelId="{5FB120D4-6E8C-4A33-8408-F1230F366D8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Speaker role</a:t>
          </a:r>
          <a:endParaRPr lang="en-US"/>
        </a:p>
      </dgm:t>
    </dgm:pt>
    <dgm:pt modelId="{E2A27F72-D805-4217-8D1D-2C218D6C2DA1}" type="parTrans" cxnId="{64316150-97AB-4A10-8717-D54CBF26E735}">
      <dgm:prSet/>
      <dgm:spPr/>
      <dgm:t>
        <a:bodyPr/>
        <a:lstStyle/>
        <a:p>
          <a:endParaRPr lang="en-US"/>
        </a:p>
      </dgm:t>
    </dgm:pt>
    <dgm:pt modelId="{9682AFB4-E63F-4DB4-A849-965E687AE3FA}" type="sibTrans" cxnId="{64316150-97AB-4A10-8717-D54CBF26E735}">
      <dgm:prSet/>
      <dgm:spPr/>
      <dgm:t>
        <a:bodyPr/>
        <a:lstStyle/>
        <a:p>
          <a:endParaRPr lang="en-US"/>
        </a:p>
      </dgm:t>
    </dgm:pt>
    <dgm:pt modelId="{7340929B-4547-4339-BAB5-182530FD9FD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Risk type</a:t>
          </a:r>
          <a:endParaRPr lang="en-US"/>
        </a:p>
      </dgm:t>
    </dgm:pt>
    <dgm:pt modelId="{EDE3F045-6E30-428F-891B-425D2C8ECDB9}" type="parTrans" cxnId="{F9531CE8-FFD8-40AF-9C9E-EBC798B37B23}">
      <dgm:prSet/>
      <dgm:spPr/>
      <dgm:t>
        <a:bodyPr/>
        <a:lstStyle/>
        <a:p>
          <a:endParaRPr lang="en-US"/>
        </a:p>
      </dgm:t>
    </dgm:pt>
    <dgm:pt modelId="{F024BD1D-04EF-4F92-B45A-C4132A22F2D4}" type="sibTrans" cxnId="{F9531CE8-FFD8-40AF-9C9E-EBC798B37B23}">
      <dgm:prSet/>
      <dgm:spPr/>
      <dgm:t>
        <a:bodyPr/>
        <a:lstStyle/>
        <a:p>
          <a:endParaRPr lang="en-US"/>
        </a:p>
      </dgm:t>
    </dgm:pt>
    <dgm:pt modelId="{36A47FC5-4AF9-4B0B-82EB-7AD0A2BC917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Expectations</a:t>
          </a:r>
          <a:endParaRPr lang="en-US"/>
        </a:p>
      </dgm:t>
    </dgm:pt>
    <dgm:pt modelId="{44639F55-D448-4E14-9516-E1DF1379FCEC}" type="parTrans" cxnId="{19E302D6-E8D5-40AB-97FA-A6E42708EB98}">
      <dgm:prSet/>
      <dgm:spPr/>
      <dgm:t>
        <a:bodyPr/>
        <a:lstStyle/>
        <a:p>
          <a:endParaRPr lang="en-US"/>
        </a:p>
      </dgm:t>
    </dgm:pt>
    <dgm:pt modelId="{9BA05445-7A68-44A6-B4C7-6165AAA8038A}" type="sibTrans" cxnId="{19E302D6-E8D5-40AB-97FA-A6E42708EB98}">
      <dgm:prSet/>
      <dgm:spPr/>
      <dgm:t>
        <a:bodyPr/>
        <a:lstStyle/>
        <a:p>
          <a:endParaRPr lang="en-US"/>
        </a:p>
      </dgm:t>
    </dgm:pt>
    <dgm:pt modelId="{51634E7C-2471-41A4-97E7-118C38CBD291}" type="pres">
      <dgm:prSet presAssocID="{6DEFE00F-FA8B-4565-8C42-8DBB92E0DA2A}" presName="root" presStyleCnt="0">
        <dgm:presLayoutVars>
          <dgm:dir/>
          <dgm:resizeHandles val="exact"/>
        </dgm:presLayoutVars>
      </dgm:prSet>
      <dgm:spPr/>
    </dgm:pt>
    <dgm:pt modelId="{456F7C0F-7503-4FD2-924B-BD467A5922C7}" type="pres">
      <dgm:prSet presAssocID="{26C1FC03-121F-46BE-9DE9-A737AE28AE83}" presName="compNode" presStyleCnt="0"/>
      <dgm:spPr/>
    </dgm:pt>
    <dgm:pt modelId="{AD2A8108-F557-4DC4-97FA-C15196A22CA6}" type="pres">
      <dgm:prSet presAssocID="{26C1FC03-121F-46BE-9DE9-A737AE28AE8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558E4662-E4A2-4AD8-A902-5E9D590A7A27}" type="pres">
      <dgm:prSet presAssocID="{26C1FC03-121F-46BE-9DE9-A737AE28AE83}" presName="iconSpace" presStyleCnt="0"/>
      <dgm:spPr/>
    </dgm:pt>
    <dgm:pt modelId="{F33E9AD6-2247-4874-BBF1-E991126E31CF}" type="pres">
      <dgm:prSet presAssocID="{26C1FC03-121F-46BE-9DE9-A737AE28AE83}" presName="parTx" presStyleLbl="revTx" presStyleIdx="0" presStyleCnt="6">
        <dgm:presLayoutVars>
          <dgm:chMax val="0"/>
          <dgm:chPref val="0"/>
        </dgm:presLayoutVars>
      </dgm:prSet>
      <dgm:spPr/>
    </dgm:pt>
    <dgm:pt modelId="{4BB4BE8C-D1DC-4407-87C4-6075E06A9D18}" type="pres">
      <dgm:prSet presAssocID="{26C1FC03-121F-46BE-9DE9-A737AE28AE83}" presName="txSpace" presStyleCnt="0"/>
      <dgm:spPr/>
    </dgm:pt>
    <dgm:pt modelId="{3C16038C-8484-43FD-B69A-1656AECC1623}" type="pres">
      <dgm:prSet presAssocID="{26C1FC03-121F-46BE-9DE9-A737AE28AE83}" presName="desTx" presStyleLbl="revTx" presStyleIdx="1" presStyleCnt="6">
        <dgm:presLayoutVars/>
      </dgm:prSet>
      <dgm:spPr/>
    </dgm:pt>
    <dgm:pt modelId="{D78414D0-5284-4F8E-BFEC-2B688010804C}" type="pres">
      <dgm:prSet presAssocID="{F7633DA1-38E1-43C9-975C-4E31E87DA00A}" presName="sibTrans" presStyleCnt="0"/>
      <dgm:spPr/>
    </dgm:pt>
    <dgm:pt modelId="{DEF435E0-FC51-45E0-886A-B21367B8F8FB}" type="pres">
      <dgm:prSet presAssocID="{BA5A5ADF-60D7-496C-A4D4-F94C59BCEB9F}" presName="compNode" presStyleCnt="0"/>
      <dgm:spPr/>
    </dgm:pt>
    <dgm:pt modelId="{02899422-4282-4CD3-9230-645E7D47C7A6}" type="pres">
      <dgm:prSet presAssocID="{BA5A5ADF-60D7-496C-A4D4-F94C59BCEB9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ør/Afspil"/>
        </a:ext>
      </dgm:extLst>
    </dgm:pt>
    <dgm:pt modelId="{37F6E4E6-F65E-4AFE-9B1F-7FE6AFD6E7F0}" type="pres">
      <dgm:prSet presAssocID="{BA5A5ADF-60D7-496C-A4D4-F94C59BCEB9F}" presName="iconSpace" presStyleCnt="0"/>
      <dgm:spPr/>
    </dgm:pt>
    <dgm:pt modelId="{8B3235A6-50A8-4ADC-ADF6-D91BAF01AD4F}" type="pres">
      <dgm:prSet presAssocID="{BA5A5ADF-60D7-496C-A4D4-F94C59BCEB9F}" presName="parTx" presStyleLbl="revTx" presStyleIdx="2" presStyleCnt="6">
        <dgm:presLayoutVars>
          <dgm:chMax val="0"/>
          <dgm:chPref val="0"/>
        </dgm:presLayoutVars>
      </dgm:prSet>
      <dgm:spPr/>
    </dgm:pt>
    <dgm:pt modelId="{AC021162-AE92-4E66-80ED-2DB869EEF46F}" type="pres">
      <dgm:prSet presAssocID="{BA5A5ADF-60D7-496C-A4D4-F94C59BCEB9F}" presName="txSpace" presStyleCnt="0"/>
      <dgm:spPr/>
    </dgm:pt>
    <dgm:pt modelId="{B8F35B06-2362-4BC7-BACE-6D3F8E796FC2}" type="pres">
      <dgm:prSet presAssocID="{BA5A5ADF-60D7-496C-A4D4-F94C59BCEB9F}" presName="desTx" presStyleLbl="revTx" presStyleIdx="3" presStyleCnt="6">
        <dgm:presLayoutVars/>
      </dgm:prSet>
      <dgm:spPr/>
    </dgm:pt>
    <dgm:pt modelId="{61705F14-EB71-4057-95BF-A37F0CBDDAE9}" type="pres">
      <dgm:prSet presAssocID="{DB2B476F-054B-4CF9-917C-BB6729431BC6}" presName="sibTrans" presStyleCnt="0"/>
      <dgm:spPr/>
    </dgm:pt>
    <dgm:pt modelId="{28470886-8111-4984-9710-9BD0A6475E1D}" type="pres">
      <dgm:prSet presAssocID="{DF19E5BA-9873-4698-973C-A9A60FF05E44}" presName="compNode" presStyleCnt="0"/>
      <dgm:spPr/>
    </dgm:pt>
    <dgm:pt modelId="{E4C1786B-D086-45C1-B243-2FF17C2E29FA}" type="pres">
      <dgm:prSet presAssocID="{DF19E5BA-9873-4698-973C-A9A60FF05E4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uger"/>
        </a:ext>
      </dgm:extLst>
    </dgm:pt>
    <dgm:pt modelId="{D2D44097-B0B8-46E6-97AA-A62A3B3F59F7}" type="pres">
      <dgm:prSet presAssocID="{DF19E5BA-9873-4698-973C-A9A60FF05E44}" presName="iconSpace" presStyleCnt="0"/>
      <dgm:spPr/>
    </dgm:pt>
    <dgm:pt modelId="{F93EFC3A-9C98-4A7C-91E7-D7E52394176D}" type="pres">
      <dgm:prSet presAssocID="{DF19E5BA-9873-4698-973C-A9A60FF05E44}" presName="parTx" presStyleLbl="revTx" presStyleIdx="4" presStyleCnt="6">
        <dgm:presLayoutVars>
          <dgm:chMax val="0"/>
          <dgm:chPref val="0"/>
        </dgm:presLayoutVars>
      </dgm:prSet>
      <dgm:spPr/>
    </dgm:pt>
    <dgm:pt modelId="{EBA75910-971E-4646-8A1F-3EBD3EA87889}" type="pres">
      <dgm:prSet presAssocID="{DF19E5BA-9873-4698-973C-A9A60FF05E44}" presName="txSpace" presStyleCnt="0"/>
      <dgm:spPr/>
    </dgm:pt>
    <dgm:pt modelId="{C903849D-7A7C-4A86-B884-90EA620A1D09}" type="pres">
      <dgm:prSet presAssocID="{DF19E5BA-9873-4698-973C-A9A60FF05E44}" presName="desTx" presStyleLbl="revTx" presStyleIdx="5" presStyleCnt="6">
        <dgm:presLayoutVars/>
      </dgm:prSet>
      <dgm:spPr/>
    </dgm:pt>
  </dgm:ptLst>
  <dgm:cxnLst>
    <dgm:cxn modelId="{37ED190C-FD93-46A8-A380-C30DEDFCC802}" type="presOf" srcId="{5FB120D4-6E8C-4A33-8408-F1230F366D85}" destId="{C903849D-7A7C-4A86-B884-90EA620A1D09}" srcOrd="0" destOrd="2" presId="urn:microsoft.com/office/officeart/2018/2/layout/IconLabelDescriptionList"/>
    <dgm:cxn modelId="{AC36DD11-ADA9-4150-8E56-42161A3D76D8}" type="presOf" srcId="{26C1FC03-121F-46BE-9DE9-A737AE28AE83}" destId="{F33E9AD6-2247-4874-BBF1-E991126E31CF}" srcOrd="0" destOrd="0" presId="urn:microsoft.com/office/officeart/2018/2/layout/IconLabelDescriptionList"/>
    <dgm:cxn modelId="{17CB764B-B221-4256-AEB5-0259C2485881}" srcId="{6DEFE00F-FA8B-4565-8C42-8DBB92E0DA2A}" destId="{DF19E5BA-9873-4698-973C-A9A60FF05E44}" srcOrd="2" destOrd="0" parTransId="{98499726-D5DE-49F7-9465-8A7CE1FE210A}" sibTransId="{12B1423A-A237-4782-B8FC-E474C49179B2}"/>
    <dgm:cxn modelId="{64316150-97AB-4A10-8717-D54CBF26E735}" srcId="{DF19E5BA-9873-4698-973C-A9A60FF05E44}" destId="{5FB120D4-6E8C-4A33-8408-F1230F366D85}" srcOrd="2" destOrd="0" parTransId="{E2A27F72-D805-4217-8D1D-2C218D6C2DA1}" sibTransId="{9682AFB4-E63F-4DB4-A849-965E687AE3FA}"/>
    <dgm:cxn modelId="{BEC9C155-B23D-4681-B3B9-834DA716CB71}" srcId="{DF19E5BA-9873-4698-973C-A9A60FF05E44}" destId="{7F5F5DED-E6FA-4514-B55A-09717768415D}" srcOrd="0" destOrd="0" parTransId="{0F6E6593-A336-4757-AC21-DCE5416C4993}" sibTransId="{B91E64CC-6797-44D5-9A0F-36C6E4D4F0DE}"/>
    <dgm:cxn modelId="{9C93EF5B-772A-48DD-AEF5-372BDBF4EE67}" srcId="{6DEFE00F-FA8B-4565-8C42-8DBB92E0DA2A}" destId="{26C1FC03-121F-46BE-9DE9-A737AE28AE83}" srcOrd="0" destOrd="0" parTransId="{D39832FE-CDC1-4A4F-81BD-7A88F463517B}" sibTransId="{F7633DA1-38E1-43C9-975C-4E31E87DA00A}"/>
    <dgm:cxn modelId="{57201B5D-929D-491F-83A2-3973124B5122}" type="presOf" srcId="{7340929B-4547-4339-BAB5-182530FD9FD5}" destId="{C903849D-7A7C-4A86-B884-90EA620A1D09}" srcOrd="0" destOrd="3" presId="urn:microsoft.com/office/officeart/2018/2/layout/IconLabelDescriptionList"/>
    <dgm:cxn modelId="{22B06679-7D89-4650-9425-A45C7FFB2150}" type="presOf" srcId="{DF19E5BA-9873-4698-973C-A9A60FF05E44}" destId="{F93EFC3A-9C98-4A7C-91E7-D7E52394176D}" srcOrd="0" destOrd="0" presId="urn:microsoft.com/office/officeart/2018/2/layout/IconLabelDescriptionList"/>
    <dgm:cxn modelId="{1BB92993-71E7-4D88-8222-A5F292E06E4E}" srcId="{6DEFE00F-FA8B-4565-8C42-8DBB92E0DA2A}" destId="{BA5A5ADF-60D7-496C-A4D4-F94C59BCEB9F}" srcOrd="1" destOrd="0" parTransId="{4DF7BCE9-C79E-4730-9F27-B47BB290FCC0}" sibTransId="{DB2B476F-054B-4CF9-917C-BB6729431BC6}"/>
    <dgm:cxn modelId="{158559A0-A424-4F11-A9E3-B7DD0CF04016}" type="presOf" srcId="{BA5A5ADF-60D7-496C-A4D4-F94C59BCEB9F}" destId="{8B3235A6-50A8-4ADC-ADF6-D91BAF01AD4F}" srcOrd="0" destOrd="0" presId="urn:microsoft.com/office/officeart/2018/2/layout/IconLabelDescriptionList"/>
    <dgm:cxn modelId="{00765AA5-E196-42C8-957C-AF217252C6D1}" srcId="{DF19E5BA-9873-4698-973C-A9A60FF05E44}" destId="{497776B0-D2C4-4303-A58C-2FB035B3BD94}" srcOrd="1" destOrd="0" parTransId="{62443BFB-27FB-4554-A4FE-724D4ADC23E3}" sibTransId="{02EF68A7-4565-479D-B22E-7239213F3DD2}"/>
    <dgm:cxn modelId="{1E7F04C0-9376-44EF-97DB-5F8D49A253B1}" type="presOf" srcId="{36A47FC5-4AF9-4B0B-82EB-7AD0A2BC9174}" destId="{C903849D-7A7C-4A86-B884-90EA620A1D09}" srcOrd="0" destOrd="4" presId="urn:microsoft.com/office/officeart/2018/2/layout/IconLabelDescriptionList"/>
    <dgm:cxn modelId="{44C844C9-5873-403C-9608-80E53C82B117}" type="presOf" srcId="{6DEFE00F-FA8B-4565-8C42-8DBB92E0DA2A}" destId="{51634E7C-2471-41A4-97E7-118C38CBD291}" srcOrd="0" destOrd="0" presId="urn:microsoft.com/office/officeart/2018/2/layout/IconLabelDescriptionList"/>
    <dgm:cxn modelId="{19E302D6-E8D5-40AB-97FA-A6E42708EB98}" srcId="{DF19E5BA-9873-4698-973C-A9A60FF05E44}" destId="{36A47FC5-4AF9-4B0B-82EB-7AD0A2BC9174}" srcOrd="4" destOrd="0" parTransId="{44639F55-D448-4E14-9516-E1DF1379FCEC}" sibTransId="{9BA05445-7A68-44A6-B4C7-6165AAA8038A}"/>
    <dgm:cxn modelId="{DE0BF6E0-A120-4232-A612-2BC12726AD54}" type="presOf" srcId="{7F5F5DED-E6FA-4514-B55A-09717768415D}" destId="{C903849D-7A7C-4A86-B884-90EA620A1D09}" srcOrd="0" destOrd="0" presId="urn:microsoft.com/office/officeart/2018/2/layout/IconLabelDescriptionList"/>
    <dgm:cxn modelId="{F9531CE8-FFD8-40AF-9C9E-EBC798B37B23}" srcId="{DF19E5BA-9873-4698-973C-A9A60FF05E44}" destId="{7340929B-4547-4339-BAB5-182530FD9FD5}" srcOrd="3" destOrd="0" parTransId="{EDE3F045-6E30-428F-891B-425D2C8ECDB9}" sibTransId="{F024BD1D-04EF-4F92-B45A-C4132A22F2D4}"/>
    <dgm:cxn modelId="{89AB55E9-E216-4FDC-B220-3DBC1E0A3FF2}" type="presOf" srcId="{497776B0-D2C4-4303-A58C-2FB035B3BD94}" destId="{C903849D-7A7C-4A86-B884-90EA620A1D09}" srcOrd="0" destOrd="1" presId="urn:microsoft.com/office/officeart/2018/2/layout/IconLabelDescriptionList"/>
    <dgm:cxn modelId="{8261A6BC-B413-4BCC-BE2A-0CA5B4C2EAC5}" type="presParOf" srcId="{51634E7C-2471-41A4-97E7-118C38CBD291}" destId="{456F7C0F-7503-4FD2-924B-BD467A5922C7}" srcOrd="0" destOrd="0" presId="urn:microsoft.com/office/officeart/2018/2/layout/IconLabelDescriptionList"/>
    <dgm:cxn modelId="{8221BB84-55AE-494E-AA05-022139FE0708}" type="presParOf" srcId="{456F7C0F-7503-4FD2-924B-BD467A5922C7}" destId="{AD2A8108-F557-4DC4-97FA-C15196A22CA6}" srcOrd="0" destOrd="0" presId="urn:microsoft.com/office/officeart/2018/2/layout/IconLabelDescriptionList"/>
    <dgm:cxn modelId="{826630D4-A706-4398-84DD-9F4110357FEA}" type="presParOf" srcId="{456F7C0F-7503-4FD2-924B-BD467A5922C7}" destId="{558E4662-E4A2-4AD8-A902-5E9D590A7A27}" srcOrd="1" destOrd="0" presId="urn:microsoft.com/office/officeart/2018/2/layout/IconLabelDescriptionList"/>
    <dgm:cxn modelId="{58C62BB4-4347-4168-BAF0-C6CEA250A437}" type="presParOf" srcId="{456F7C0F-7503-4FD2-924B-BD467A5922C7}" destId="{F33E9AD6-2247-4874-BBF1-E991126E31CF}" srcOrd="2" destOrd="0" presId="urn:microsoft.com/office/officeart/2018/2/layout/IconLabelDescriptionList"/>
    <dgm:cxn modelId="{BD106EA7-53FB-40A5-876F-48FFED810663}" type="presParOf" srcId="{456F7C0F-7503-4FD2-924B-BD467A5922C7}" destId="{4BB4BE8C-D1DC-4407-87C4-6075E06A9D18}" srcOrd="3" destOrd="0" presId="urn:microsoft.com/office/officeart/2018/2/layout/IconLabelDescriptionList"/>
    <dgm:cxn modelId="{BE40C655-4626-4E50-AA4A-29FA966C4C34}" type="presParOf" srcId="{456F7C0F-7503-4FD2-924B-BD467A5922C7}" destId="{3C16038C-8484-43FD-B69A-1656AECC1623}" srcOrd="4" destOrd="0" presId="urn:microsoft.com/office/officeart/2018/2/layout/IconLabelDescriptionList"/>
    <dgm:cxn modelId="{B57AAD3D-C4B4-48F0-AE21-17C980B900FF}" type="presParOf" srcId="{51634E7C-2471-41A4-97E7-118C38CBD291}" destId="{D78414D0-5284-4F8E-BFEC-2B688010804C}" srcOrd="1" destOrd="0" presId="urn:microsoft.com/office/officeart/2018/2/layout/IconLabelDescriptionList"/>
    <dgm:cxn modelId="{1E31B1B2-47C3-4016-B7CB-48C9960AB45C}" type="presParOf" srcId="{51634E7C-2471-41A4-97E7-118C38CBD291}" destId="{DEF435E0-FC51-45E0-886A-B21367B8F8FB}" srcOrd="2" destOrd="0" presId="urn:microsoft.com/office/officeart/2018/2/layout/IconLabelDescriptionList"/>
    <dgm:cxn modelId="{BB3E6E68-B434-42B4-B6A9-72446A354D64}" type="presParOf" srcId="{DEF435E0-FC51-45E0-886A-B21367B8F8FB}" destId="{02899422-4282-4CD3-9230-645E7D47C7A6}" srcOrd="0" destOrd="0" presId="urn:microsoft.com/office/officeart/2018/2/layout/IconLabelDescriptionList"/>
    <dgm:cxn modelId="{495FAE62-BB33-4727-9C6F-0CBDEFF3763A}" type="presParOf" srcId="{DEF435E0-FC51-45E0-886A-B21367B8F8FB}" destId="{37F6E4E6-F65E-4AFE-9B1F-7FE6AFD6E7F0}" srcOrd="1" destOrd="0" presId="urn:microsoft.com/office/officeart/2018/2/layout/IconLabelDescriptionList"/>
    <dgm:cxn modelId="{D7A72BAB-7F79-407C-BC27-756EA154EF87}" type="presParOf" srcId="{DEF435E0-FC51-45E0-886A-B21367B8F8FB}" destId="{8B3235A6-50A8-4ADC-ADF6-D91BAF01AD4F}" srcOrd="2" destOrd="0" presId="urn:microsoft.com/office/officeart/2018/2/layout/IconLabelDescriptionList"/>
    <dgm:cxn modelId="{BD1CA226-D7A8-4263-A925-9EA0C15C744C}" type="presParOf" srcId="{DEF435E0-FC51-45E0-886A-B21367B8F8FB}" destId="{AC021162-AE92-4E66-80ED-2DB869EEF46F}" srcOrd="3" destOrd="0" presId="urn:microsoft.com/office/officeart/2018/2/layout/IconLabelDescriptionList"/>
    <dgm:cxn modelId="{814959E8-7B4C-4F4C-9034-0085C1EEE85D}" type="presParOf" srcId="{DEF435E0-FC51-45E0-886A-B21367B8F8FB}" destId="{B8F35B06-2362-4BC7-BACE-6D3F8E796FC2}" srcOrd="4" destOrd="0" presId="urn:microsoft.com/office/officeart/2018/2/layout/IconLabelDescriptionList"/>
    <dgm:cxn modelId="{FBC62D37-3804-4ABB-B025-41FA576A5804}" type="presParOf" srcId="{51634E7C-2471-41A4-97E7-118C38CBD291}" destId="{61705F14-EB71-4057-95BF-A37F0CBDDAE9}" srcOrd="3" destOrd="0" presId="urn:microsoft.com/office/officeart/2018/2/layout/IconLabelDescriptionList"/>
    <dgm:cxn modelId="{C8D1AE38-92E1-4B93-84DC-7C735C19A4FC}" type="presParOf" srcId="{51634E7C-2471-41A4-97E7-118C38CBD291}" destId="{28470886-8111-4984-9710-9BD0A6475E1D}" srcOrd="4" destOrd="0" presId="urn:microsoft.com/office/officeart/2018/2/layout/IconLabelDescriptionList"/>
    <dgm:cxn modelId="{1653A0B8-6742-4BB2-9CD1-10E86E2994AA}" type="presParOf" srcId="{28470886-8111-4984-9710-9BD0A6475E1D}" destId="{E4C1786B-D086-45C1-B243-2FF17C2E29FA}" srcOrd="0" destOrd="0" presId="urn:microsoft.com/office/officeart/2018/2/layout/IconLabelDescriptionList"/>
    <dgm:cxn modelId="{6BBF466F-303C-4C7F-9E18-0212EF459164}" type="presParOf" srcId="{28470886-8111-4984-9710-9BD0A6475E1D}" destId="{D2D44097-B0B8-46E6-97AA-A62A3B3F59F7}" srcOrd="1" destOrd="0" presId="urn:microsoft.com/office/officeart/2018/2/layout/IconLabelDescriptionList"/>
    <dgm:cxn modelId="{9624691E-E9CE-4B71-9C24-2A75649A6CDC}" type="presParOf" srcId="{28470886-8111-4984-9710-9BD0A6475E1D}" destId="{F93EFC3A-9C98-4A7C-91E7-D7E52394176D}" srcOrd="2" destOrd="0" presId="urn:microsoft.com/office/officeart/2018/2/layout/IconLabelDescriptionList"/>
    <dgm:cxn modelId="{DC5AF139-01BE-4792-891A-2FAA690AB232}" type="presParOf" srcId="{28470886-8111-4984-9710-9BD0A6475E1D}" destId="{EBA75910-971E-4646-8A1F-3EBD3EA87889}" srcOrd="3" destOrd="0" presId="urn:microsoft.com/office/officeart/2018/2/layout/IconLabelDescriptionList"/>
    <dgm:cxn modelId="{94B5C6E9-E551-460B-9879-8D38B9BA51D5}" type="presParOf" srcId="{28470886-8111-4984-9710-9BD0A6475E1D}" destId="{C903849D-7A7C-4A86-B884-90EA620A1D0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2A8108-F557-4DC4-97FA-C15196A22CA6}">
      <dsp:nvSpPr>
        <dsp:cNvPr id="0" name=""/>
        <dsp:cNvSpPr/>
      </dsp:nvSpPr>
      <dsp:spPr>
        <a:xfrm>
          <a:off x="393" y="647813"/>
          <a:ext cx="1098562" cy="109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E9AD6-2247-4874-BBF1-E991126E31CF}">
      <dsp:nvSpPr>
        <dsp:cNvPr id="0" name=""/>
        <dsp:cNvSpPr/>
      </dsp:nvSpPr>
      <dsp:spPr>
        <a:xfrm>
          <a:off x="393" y="1877771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500" kern="1200"/>
            <a:t>Local model to extract risk statements</a:t>
          </a:r>
          <a:endParaRPr lang="en-US" sz="1500" kern="1200"/>
        </a:p>
      </dsp:txBody>
      <dsp:txXfrm>
        <a:off x="393" y="1877771"/>
        <a:ext cx="3138750" cy="470812"/>
      </dsp:txXfrm>
    </dsp:sp>
    <dsp:sp modelId="{3C16038C-8484-43FD-B69A-1656AECC1623}">
      <dsp:nvSpPr>
        <dsp:cNvPr id="0" name=""/>
        <dsp:cNvSpPr/>
      </dsp:nvSpPr>
      <dsp:spPr>
        <a:xfrm>
          <a:off x="393" y="2409698"/>
          <a:ext cx="3138750" cy="1293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899422-4282-4CD3-9230-645E7D47C7A6}">
      <dsp:nvSpPr>
        <dsp:cNvPr id="0" name=""/>
        <dsp:cNvSpPr/>
      </dsp:nvSpPr>
      <dsp:spPr>
        <a:xfrm>
          <a:off x="3688425" y="647813"/>
          <a:ext cx="1098562" cy="109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235A6-50A8-4ADC-ADF6-D91BAF01AD4F}">
      <dsp:nvSpPr>
        <dsp:cNvPr id="0" name=""/>
        <dsp:cNvSpPr/>
      </dsp:nvSpPr>
      <dsp:spPr>
        <a:xfrm>
          <a:off x="3688425" y="1877771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500" kern="1200"/>
            <a:t>Limited to 5000 characters for speed</a:t>
          </a:r>
          <a:endParaRPr lang="en-US" sz="1500" kern="1200"/>
        </a:p>
      </dsp:txBody>
      <dsp:txXfrm>
        <a:off x="3688425" y="1877771"/>
        <a:ext cx="3138750" cy="470812"/>
      </dsp:txXfrm>
    </dsp:sp>
    <dsp:sp modelId="{B8F35B06-2362-4BC7-BACE-6D3F8E796FC2}">
      <dsp:nvSpPr>
        <dsp:cNvPr id="0" name=""/>
        <dsp:cNvSpPr/>
      </dsp:nvSpPr>
      <dsp:spPr>
        <a:xfrm>
          <a:off x="3688425" y="2409698"/>
          <a:ext cx="3138750" cy="1293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C1786B-D086-45C1-B243-2FF17C2E29FA}">
      <dsp:nvSpPr>
        <dsp:cNvPr id="0" name=""/>
        <dsp:cNvSpPr/>
      </dsp:nvSpPr>
      <dsp:spPr>
        <a:xfrm>
          <a:off x="7376456" y="647813"/>
          <a:ext cx="1098562" cy="1098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3EFC3A-9C98-4A7C-91E7-D7E52394176D}">
      <dsp:nvSpPr>
        <dsp:cNvPr id="0" name=""/>
        <dsp:cNvSpPr/>
      </dsp:nvSpPr>
      <dsp:spPr>
        <a:xfrm>
          <a:off x="7376456" y="1877771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500" kern="1200"/>
            <a:t>Output to JSON</a:t>
          </a:r>
          <a:endParaRPr lang="en-US" sz="1500" kern="1200"/>
        </a:p>
      </dsp:txBody>
      <dsp:txXfrm>
        <a:off x="7376456" y="1877771"/>
        <a:ext cx="3138750" cy="470812"/>
      </dsp:txXfrm>
    </dsp:sp>
    <dsp:sp modelId="{C903849D-7A7C-4A86-B884-90EA620A1D09}">
      <dsp:nvSpPr>
        <dsp:cNvPr id="0" name=""/>
        <dsp:cNvSpPr/>
      </dsp:nvSpPr>
      <dsp:spPr>
        <a:xfrm>
          <a:off x="7376456" y="2409698"/>
          <a:ext cx="3138750" cy="1293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Transcript id – for later manuel assement of the model’s performance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Company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Speaker role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Risk type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Expectations</a:t>
          </a:r>
          <a:endParaRPr lang="en-US" sz="1100" kern="1200"/>
        </a:p>
      </dsp:txBody>
      <dsp:txXfrm>
        <a:off x="7376456" y="2409698"/>
        <a:ext cx="3138750" cy="12938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EA1E6-A879-B978-B7DA-76FF350A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6BB46CC-79F4-9D2D-682A-FCD583907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872F0F4-CFCC-C497-E85C-F1F51D8C0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F925-5BFD-B44D-9FB3-7376DB71DD37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105B2D2-C05A-C1BA-D93E-B25AEFDB2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643CB8C-9F94-97DF-BD01-A1BD87A79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DDA7-8108-8C43-B5B6-E46DB627372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114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37CC27-39C2-8DC5-E24D-DB18D9151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F9691C5-4F2C-7382-8E8A-102247BF9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24D7CA2-FFF9-BBA4-E72A-68A8E6EF3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F925-5BFD-B44D-9FB3-7376DB71DD37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40E1827-9F74-7FED-3222-FB80573A2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0184D35-1BC6-6FAF-E375-62EB320D1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DDA7-8108-8C43-B5B6-E46DB627372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6491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67AD7E-A39C-1255-F899-5FAC6198A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1CE91DA-65C0-4FD3-C521-D2E6B4D03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34B67BB-B151-EA32-47EC-CBD623B65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F925-5BFD-B44D-9FB3-7376DB71DD37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709C33F-4CB8-2F97-0AD4-4EAB07D67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7821176-DA80-04DD-652A-32EE7221F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DDA7-8108-8C43-B5B6-E46DB627372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67814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1C742F-B4D1-DFB3-68A3-B4DF811D6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093A52B-8334-A9F6-630D-956521A4C8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C79CB6C4-FA74-A89D-1F03-95368FA41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D58DA94-2797-532E-21B1-81A35FE61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F925-5BFD-B44D-9FB3-7376DB71DD37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3C6DB03-B558-6A4E-D7C7-9DF1BF8CB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76580DF-F71F-7D9C-F3F1-EAA9AD5A3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DDA7-8108-8C43-B5B6-E46DB627372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8512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86CD8D-42F5-9CAD-AE35-C1CE411AC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01673EB-69B0-70D0-ACB0-6A7ED8E05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5A6750B-0616-B491-1DE6-574D7AF68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FC887AE5-34DA-D39C-2B53-AC8A291606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5D116B6-E02B-64C9-83D5-7ED328627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5CAA23FE-6517-5190-B95A-690CD7863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F925-5BFD-B44D-9FB3-7376DB71DD37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74FF2BDD-8518-C834-B70A-19AF6D8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754B0FDE-5EFB-4D19-9A90-9DB49A481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DDA7-8108-8C43-B5B6-E46DB627372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2507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F64260-D863-820B-A451-BE7F254E2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DEB56992-58F4-0D66-1DC5-F6F58E87B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F925-5BFD-B44D-9FB3-7376DB71DD37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82899F80-6086-120C-C2F5-FB77965EA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BB56724-3145-FD82-319E-8752900DB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DDA7-8108-8C43-B5B6-E46DB627372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40707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8CDFF398-3164-A39C-FD2D-5009B1FC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F925-5BFD-B44D-9FB3-7376DB71DD37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635A12DD-7ED9-E2EF-2B68-E2DE8F43E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52A324F-BB5C-CA40-C209-94176E52C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DDA7-8108-8C43-B5B6-E46DB627372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69575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D6FB6B-7306-FA8C-2D8F-44CB7E441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61BD007-7832-171A-2527-8E7DBA6AC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5F4BABD-463C-41F0-3CD0-03DF4E3B7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17007B5-8AB1-8E29-B9B1-E3D41615F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F925-5BFD-B44D-9FB3-7376DB71DD37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8808992-C2A5-221A-0ABB-50A79ACFF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B290840-DF72-9158-4B3C-E637DF209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DDA7-8108-8C43-B5B6-E46DB627372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9284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CACC20-2487-D099-6A43-B5E529122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D6E1FF43-C2F2-8D08-FB0D-5E5BB18D6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307A1DB-673B-3003-D042-47915033E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4A1DE63-6298-DFDC-F3AA-E1EE73079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F925-5BFD-B44D-9FB3-7376DB71DD37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097AFE4-419A-DB1F-AFBA-902EF712B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348AF63-62A8-2355-F32B-3914DABA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DDA7-8108-8C43-B5B6-E46DB627372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24763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8BBE31-44B8-8266-B11E-9EDF12B91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DB701BE3-6F82-9372-931B-79B95C135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20BBA1F-4016-8E35-68B5-12D18DF69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F925-5BFD-B44D-9FB3-7376DB71DD37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A81F9F0-1144-6D72-1DC0-CB3365A59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B88D9DF-3E14-D7B2-1012-CB6D740F4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DDA7-8108-8C43-B5B6-E46DB627372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50947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62CA3B74-CDCC-526C-84F4-BED4C3470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5DE51EF-7F9D-A724-24CE-D820C4476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FB58C0A-CF45-52B3-BFBF-955467D56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F925-5BFD-B44D-9FB3-7376DB71DD37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B8A86FA-2A21-88E4-B2F5-7503C8C69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B8F0C0E-69F7-60C6-E813-19A48030A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DDA7-8108-8C43-B5B6-E46DB627372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6878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D132884F-F58B-965C-9950-DB6972D27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22982E5-5F16-6305-39CD-71F18FA92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50F2BA7-DBFC-011C-78D3-5F75F7B7D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4F925-5BFD-B44D-9FB3-7376DB71DD37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99797C6-8502-34FD-A1CB-754E1EE70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DED19BE-7DEB-099D-F7AB-D4176449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F6DDA7-8108-8C43-B5B6-E46DB627372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08711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6E6BB01-18FA-53C4-9AB7-BF70AF754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da-DK" sz="5200"/>
              <a:t>NLP exam 2025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845AA5F-B1DE-6C32-B5C1-8DB36216E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r>
              <a:rPr lang="da-DK" dirty="0"/>
              <a:t>Daniel Hjerresen</a:t>
            </a:r>
            <a:endParaRPr lang="da-DK"/>
          </a:p>
        </p:txBody>
      </p:sp>
      <p:pic>
        <p:nvPicPr>
          <p:cNvPr id="7" name="Graphic 6" descr="Bøger">
            <a:extLst>
              <a:ext uri="{FF2B5EF4-FFF2-40B4-BE49-F238E27FC236}">
                <a16:creationId xmlns:a16="http://schemas.microsoft.com/office/drawing/2014/main" id="{5025B24B-AFDC-7C71-06C5-8B291E3E4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Bøger">
            <a:extLst>
              <a:ext uri="{FF2B5EF4-FFF2-40B4-BE49-F238E27FC236}">
                <a16:creationId xmlns:a16="http://schemas.microsoft.com/office/drawing/2014/main" id="{40B3521D-2943-4F01-AACA-F2E497268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65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9CDBDE5-534E-6630-354E-A4B04B9DA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 noProof="0"/>
              <a:t>Problem formulation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2D2D129-4B1D-CA24-72D3-0326077B1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GB" sz="2000" noProof="0"/>
              <a:t>SP500 Earnings transcripts</a:t>
            </a:r>
            <a:endParaRPr lang="en-GB" sz="2000"/>
          </a:p>
          <a:p>
            <a:r>
              <a:rPr lang="en-GB" sz="2000" noProof="0"/>
              <a:t>Problem statement:</a:t>
            </a:r>
          </a:p>
          <a:p>
            <a:pPr lvl="1"/>
            <a:r>
              <a:rPr lang="en-GB" sz="2000"/>
              <a:t>Does a shock to the market like subprime crisis, affect how companies perceive risk and their outlook for the future?</a:t>
            </a:r>
          </a:p>
          <a:p>
            <a:r>
              <a:rPr lang="en-GB" sz="2000"/>
              <a:t>Data filtered to 2006 and 2008</a:t>
            </a:r>
          </a:p>
          <a:p>
            <a:pPr lvl="1"/>
            <a:endParaRPr lang="en-GB" sz="2000"/>
          </a:p>
          <a:p>
            <a:pPr lvl="1"/>
            <a:endParaRPr lang="en-GB" sz="2000"/>
          </a:p>
        </p:txBody>
      </p:sp>
      <p:pic>
        <p:nvPicPr>
          <p:cNvPr id="5" name="Picture 4" descr="Graf på dokument med pen">
            <a:extLst>
              <a:ext uri="{FF2B5EF4-FFF2-40B4-BE49-F238E27FC236}">
                <a16:creationId xmlns:a16="http://schemas.microsoft.com/office/drawing/2014/main" id="{B601229D-39C6-1C64-140B-21FA131E02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61" r="13438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63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AA9D96-30A4-6660-12B0-2EF6E15EE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LLM – </a:t>
            </a:r>
            <a:r>
              <a:rPr lang="da-DK" dirty="0" err="1"/>
              <a:t>Ollama</a:t>
            </a:r>
            <a:endParaRPr lang="da-DK" dirty="0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4FE6F955-500D-8593-F909-9AA1C30A72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945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43B7AF4-1942-A6FF-AF69-7A12434AB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Inspect</a:t>
            </a:r>
            <a:r>
              <a:rPr lang="da-DK" dirty="0"/>
              <a:t> model output</a:t>
            </a:r>
          </a:p>
        </p:txBody>
      </p:sp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C8B1CF4F-7585-6F97-AB82-169F09B3B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Expectations</a:t>
            </a:r>
            <a:r>
              <a:rPr lang="da-DK" dirty="0"/>
              <a:t> </a:t>
            </a:r>
            <a:r>
              <a:rPr lang="da-DK" dirty="0" err="1"/>
              <a:t>count</a:t>
            </a:r>
            <a:r>
              <a:rPr lang="da-DK" dirty="0"/>
              <a:t>  (</a:t>
            </a:r>
            <a:r>
              <a:rPr lang="da-DK" dirty="0" err="1"/>
              <a:t>pre</a:t>
            </a:r>
            <a:r>
              <a:rPr lang="da-DK" dirty="0"/>
              <a:t> subprime)</a:t>
            </a:r>
          </a:p>
        </p:txBody>
      </p:sp>
      <p:graphicFrame>
        <p:nvGraphicFramePr>
          <p:cNvPr id="10" name="Pladsholder til indhold 9">
            <a:extLst>
              <a:ext uri="{FF2B5EF4-FFF2-40B4-BE49-F238E27FC236}">
                <a16:creationId xmlns:a16="http://schemas.microsoft.com/office/drawing/2014/main" id="{3D22DB1D-B7C9-1259-4B45-3CBDFBD16AE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24477497"/>
              </p:ext>
            </p:extLst>
          </p:nvPr>
        </p:nvGraphicFramePr>
        <p:xfrm>
          <a:off x="839788" y="2922469"/>
          <a:ext cx="5157785" cy="33636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976065">
                  <a:extLst>
                    <a:ext uri="{9D8B030D-6E8A-4147-A177-3AD203B41FA5}">
                      <a16:colId xmlns:a16="http://schemas.microsoft.com/office/drawing/2014/main" val="1088383217"/>
                    </a:ext>
                  </a:extLst>
                </a:gridCol>
                <a:gridCol w="3281624">
                  <a:extLst>
                    <a:ext uri="{9D8B030D-6E8A-4147-A177-3AD203B41FA5}">
                      <a16:colId xmlns:a16="http://schemas.microsoft.com/office/drawing/2014/main" val="2583215376"/>
                    </a:ext>
                  </a:extLst>
                </a:gridCol>
                <a:gridCol w="900096">
                  <a:extLst>
                    <a:ext uri="{9D8B030D-6E8A-4147-A177-3AD203B41FA5}">
                      <a16:colId xmlns:a16="http://schemas.microsoft.com/office/drawing/2014/main" val="1770747669"/>
                    </a:ext>
                  </a:extLst>
                </a:gridCol>
              </a:tblGrid>
              <a:tr h="4252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br>
                        <a:rPr lang="da-DK" sz="1400">
                          <a:effectLst/>
                        </a:rPr>
                      </a:br>
                      <a:r>
                        <a:rPr lang="da-DK" sz="1400">
                          <a:effectLst/>
                        </a:rPr>
                        <a:t>count</a:t>
                      </a: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a-DK" sz="1400" dirty="0" err="1">
                          <a:effectLst/>
                        </a:rPr>
                        <a:t>count</a:t>
                      </a:r>
                      <a:endParaRPr lang="da-DK" sz="1400" dirty="0">
                        <a:effectLst/>
                      </a:endParaRP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 marL="107111" marR="107111" marT="53557" marB="53557"/>
                </a:tc>
                <a:extLst>
                  <a:ext uri="{0D108BD9-81ED-4DB2-BD59-A6C34878D82A}">
                    <a16:rowId xmlns:a16="http://schemas.microsoft.com/office/drawing/2014/main" val="1661348867"/>
                  </a:ext>
                </a:extLst>
              </a:tr>
              <a:tr h="1630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a-DK" sz="1400" b="0">
                          <a:effectLst/>
                        </a:rPr>
                        <a:t>0</a:t>
                      </a: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ahead of expectations</a:t>
                      </a: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2</a:t>
                      </a:r>
                    </a:p>
                  </a:txBody>
                  <a:tcPr marL="89260" marR="89260" marT="44630" marB="44630" anchor="ctr"/>
                </a:tc>
                <a:extLst>
                  <a:ext uri="{0D108BD9-81ED-4DB2-BD59-A6C34878D82A}">
                    <a16:rowId xmlns:a16="http://schemas.microsoft.com/office/drawing/2014/main" val="200237859"/>
                  </a:ext>
                </a:extLst>
              </a:tr>
              <a:tr h="29418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a-DK" sz="1400" b="0">
                          <a:effectLst/>
                        </a:rPr>
                        <a:t>1</a:t>
                      </a: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below initial expectation</a:t>
                      </a: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1</a:t>
                      </a:r>
                    </a:p>
                  </a:txBody>
                  <a:tcPr marL="89260" marR="89260" marT="44630" marB="44630" anchor="ctr"/>
                </a:tc>
                <a:extLst>
                  <a:ext uri="{0D108BD9-81ED-4DB2-BD59-A6C34878D82A}">
                    <a16:rowId xmlns:a16="http://schemas.microsoft.com/office/drawing/2014/main" val="3194717900"/>
                  </a:ext>
                </a:extLst>
              </a:tr>
              <a:tr h="1630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a-DK" sz="1400" b="0">
                          <a:effectLst/>
                        </a:rPr>
                        <a:t>2</a:t>
                      </a: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changed</a:t>
                      </a: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1</a:t>
                      </a:r>
                    </a:p>
                  </a:txBody>
                  <a:tcPr marL="89260" marR="89260" marT="44630" marB="44630" anchor="ctr"/>
                </a:tc>
                <a:extLst>
                  <a:ext uri="{0D108BD9-81ED-4DB2-BD59-A6C34878D82A}">
                    <a16:rowId xmlns:a16="http://schemas.microsoft.com/office/drawing/2014/main" val="3312774955"/>
                  </a:ext>
                </a:extLst>
              </a:tr>
              <a:tr h="29418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a-DK" sz="1400" b="0">
                          <a:effectLst/>
                        </a:rPr>
                        <a:t>3</a:t>
                      </a: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fell short of our original sales expectations</a:t>
                      </a: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1</a:t>
                      </a:r>
                    </a:p>
                  </a:txBody>
                  <a:tcPr marL="89260" marR="89260" marT="44630" marB="44630" anchor="ctr"/>
                </a:tc>
                <a:extLst>
                  <a:ext uri="{0D108BD9-81ED-4DB2-BD59-A6C34878D82A}">
                    <a16:rowId xmlns:a16="http://schemas.microsoft.com/office/drawing/2014/main" val="140519962"/>
                  </a:ext>
                </a:extLst>
              </a:tr>
              <a:tr h="4252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a-DK" sz="1400" b="0">
                          <a:effectLst/>
                        </a:rPr>
                        <a:t>4</a:t>
                      </a: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dirty="0">
                          <a:effectLst/>
                        </a:rPr>
                        <a:t>high single-</a:t>
                      </a:r>
                      <a:r>
                        <a:rPr lang="da-DK" sz="1400" dirty="0" err="1">
                          <a:effectLst/>
                        </a:rPr>
                        <a:t>digit</a:t>
                      </a:r>
                      <a:r>
                        <a:rPr lang="da-DK" sz="1400" dirty="0">
                          <a:effectLst/>
                        </a:rPr>
                        <a:t> </a:t>
                      </a:r>
                      <a:r>
                        <a:rPr lang="da-DK" sz="1400" dirty="0" err="1">
                          <a:effectLst/>
                        </a:rPr>
                        <a:t>comps</a:t>
                      </a:r>
                      <a:r>
                        <a:rPr lang="da-DK" sz="1400" dirty="0">
                          <a:effectLst/>
                        </a:rPr>
                        <a:t>, an </a:t>
                      </a:r>
                      <a:r>
                        <a:rPr lang="da-DK" sz="1400" dirty="0" err="1">
                          <a:effectLst/>
                        </a:rPr>
                        <a:t>increase</a:t>
                      </a:r>
                      <a:r>
                        <a:rPr lang="da-DK" sz="1400" dirty="0">
                          <a:effectLst/>
                        </a:rPr>
                        <a:t> in the gr...</a:t>
                      </a: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1</a:t>
                      </a:r>
                    </a:p>
                  </a:txBody>
                  <a:tcPr marL="89260" marR="89260" marT="44630" marB="44630" anchor="ctr"/>
                </a:tc>
                <a:extLst>
                  <a:ext uri="{0D108BD9-81ED-4DB2-BD59-A6C34878D82A}">
                    <a16:rowId xmlns:a16="http://schemas.microsoft.com/office/drawing/2014/main" val="2833285615"/>
                  </a:ext>
                </a:extLst>
              </a:tr>
              <a:tr h="1630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a-DK" sz="1400" b="0">
                          <a:effectLst/>
                        </a:rPr>
                        <a:t>5</a:t>
                      </a: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lower</a:t>
                      </a: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2</a:t>
                      </a:r>
                    </a:p>
                  </a:txBody>
                  <a:tcPr marL="89260" marR="89260" marT="44630" marB="44630" anchor="ctr"/>
                </a:tc>
                <a:extLst>
                  <a:ext uri="{0D108BD9-81ED-4DB2-BD59-A6C34878D82A}">
                    <a16:rowId xmlns:a16="http://schemas.microsoft.com/office/drawing/2014/main" val="3096219498"/>
                  </a:ext>
                </a:extLst>
              </a:tr>
              <a:tr h="1630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a-DK" sz="1400" b="0">
                          <a:effectLst/>
                        </a:rPr>
                        <a:t>6</a:t>
                      </a: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negative</a:t>
                      </a: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3</a:t>
                      </a:r>
                    </a:p>
                  </a:txBody>
                  <a:tcPr marL="89260" marR="89260" marT="44630" marB="44630" anchor="ctr"/>
                </a:tc>
                <a:extLst>
                  <a:ext uri="{0D108BD9-81ED-4DB2-BD59-A6C34878D82A}">
                    <a16:rowId xmlns:a16="http://schemas.microsoft.com/office/drawing/2014/main" val="3846728183"/>
                  </a:ext>
                </a:extLst>
              </a:tr>
              <a:tr h="1630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a-DK" sz="1400" b="0">
                          <a:effectLst/>
                        </a:rPr>
                        <a:t>7</a:t>
                      </a: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neutral</a:t>
                      </a:r>
                    </a:p>
                  </a:txBody>
                  <a:tcPr marL="89260" marR="89260" marT="44630" marB="446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dirty="0">
                          <a:effectLst/>
                        </a:rPr>
                        <a:t>1809</a:t>
                      </a:r>
                    </a:p>
                  </a:txBody>
                  <a:tcPr marL="89260" marR="89260" marT="44630" marB="44630" anchor="ctr"/>
                </a:tc>
                <a:extLst>
                  <a:ext uri="{0D108BD9-81ED-4DB2-BD59-A6C34878D82A}">
                    <a16:rowId xmlns:a16="http://schemas.microsoft.com/office/drawing/2014/main" val="3622882116"/>
                  </a:ext>
                </a:extLst>
              </a:tr>
            </a:tbl>
          </a:graphicData>
        </a:graphic>
      </p:graphicFrame>
      <p:sp>
        <p:nvSpPr>
          <p:cNvPr id="13" name="Pladsholder til tekst 12">
            <a:extLst>
              <a:ext uri="{FF2B5EF4-FFF2-40B4-BE49-F238E27FC236}">
                <a16:creationId xmlns:a16="http://schemas.microsoft.com/office/drawing/2014/main" id="{F24DD2A8-2386-C43F-E86D-CE3724BCF9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dirty="0" err="1"/>
              <a:t>df_pre.head</a:t>
            </a:r>
            <a:r>
              <a:rPr lang="da-DK" dirty="0"/>
              <a:t>()</a:t>
            </a:r>
          </a:p>
        </p:txBody>
      </p:sp>
      <p:graphicFrame>
        <p:nvGraphicFramePr>
          <p:cNvPr id="18" name="Pladsholder til indhold 17">
            <a:extLst>
              <a:ext uri="{FF2B5EF4-FFF2-40B4-BE49-F238E27FC236}">
                <a16:creationId xmlns:a16="http://schemas.microsoft.com/office/drawing/2014/main" id="{067EE175-02AF-6EE2-F1D2-4B892A94299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99460967"/>
              </p:ext>
            </p:extLst>
          </p:nvPr>
        </p:nvGraphicFramePr>
        <p:xfrm>
          <a:off x="6172200" y="3006725"/>
          <a:ext cx="5180010" cy="3012111"/>
        </p:xfrm>
        <a:graphic>
          <a:graphicData uri="http://schemas.openxmlformats.org/drawingml/2006/table">
            <a:tbl>
              <a:tblPr/>
              <a:tblGrid>
                <a:gridCol w="1036002">
                  <a:extLst>
                    <a:ext uri="{9D8B030D-6E8A-4147-A177-3AD203B41FA5}">
                      <a16:colId xmlns:a16="http://schemas.microsoft.com/office/drawing/2014/main" val="3653781848"/>
                    </a:ext>
                  </a:extLst>
                </a:gridCol>
                <a:gridCol w="1036002">
                  <a:extLst>
                    <a:ext uri="{9D8B030D-6E8A-4147-A177-3AD203B41FA5}">
                      <a16:colId xmlns:a16="http://schemas.microsoft.com/office/drawing/2014/main" val="275948999"/>
                    </a:ext>
                  </a:extLst>
                </a:gridCol>
                <a:gridCol w="1036002">
                  <a:extLst>
                    <a:ext uri="{9D8B030D-6E8A-4147-A177-3AD203B41FA5}">
                      <a16:colId xmlns:a16="http://schemas.microsoft.com/office/drawing/2014/main" val="2000120382"/>
                    </a:ext>
                  </a:extLst>
                </a:gridCol>
                <a:gridCol w="1036002">
                  <a:extLst>
                    <a:ext uri="{9D8B030D-6E8A-4147-A177-3AD203B41FA5}">
                      <a16:colId xmlns:a16="http://schemas.microsoft.com/office/drawing/2014/main" val="21758926"/>
                    </a:ext>
                  </a:extLst>
                </a:gridCol>
                <a:gridCol w="1036002">
                  <a:extLst>
                    <a:ext uri="{9D8B030D-6E8A-4147-A177-3AD203B41FA5}">
                      <a16:colId xmlns:a16="http://schemas.microsoft.com/office/drawing/2014/main" val="1384104847"/>
                    </a:ext>
                  </a:extLst>
                </a:gridCol>
              </a:tblGrid>
              <a:tr h="23054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a-DK" sz="900" b="1" dirty="0" err="1">
                          <a:effectLst/>
                        </a:rPr>
                        <a:t>transcript_id</a:t>
                      </a:r>
                      <a:endParaRPr lang="da-DK" sz="900" b="1" dirty="0">
                        <a:effectLst/>
                      </a:endParaRP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a-DK" sz="900" b="1" dirty="0" err="1">
                          <a:effectLst/>
                        </a:rPr>
                        <a:t>company</a:t>
                      </a:r>
                      <a:endParaRPr lang="da-DK" sz="900" b="1" dirty="0">
                        <a:effectLst/>
                      </a:endParaRP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a-DK" sz="900" b="1" dirty="0" err="1">
                          <a:effectLst/>
                        </a:rPr>
                        <a:t>speaker_role</a:t>
                      </a:r>
                      <a:endParaRPr lang="da-DK" sz="900" b="1" dirty="0">
                        <a:effectLst/>
                      </a:endParaRP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a-DK" sz="900" b="1">
                          <a:effectLst/>
                        </a:rPr>
                        <a:t>risk_type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a-DK" sz="900" b="1" dirty="0" err="1">
                          <a:effectLst/>
                        </a:rPr>
                        <a:t>expectations</a:t>
                      </a:r>
                      <a:endParaRPr lang="da-DK" sz="900" b="1" dirty="0">
                        <a:effectLst/>
                      </a:endParaRP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873170"/>
                  </a:ext>
                </a:extLst>
              </a:tr>
              <a:tr h="592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 dirty="0">
                          <a:effectLst/>
                        </a:rPr>
                        <a:t>0.0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effectLst/>
                        </a:rPr>
                        <a:t>Agilent Technologies, Inc.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effectLst/>
                        </a:rPr>
                        <a:t>Vice President and Treasurer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 dirty="0">
                          <a:effectLst/>
                        </a:rPr>
                        <a:t>forward-</a:t>
                      </a:r>
                      <a:r>
                        <a:rPr lang="da-DK" sz="900" dirty="0" err="1">
                          <a:effectLst/>
                        </a:rPr>
                        <a:t>looking</a:t>
                      </a:r>
                      <a:r>
                        <a:rPr lang="da-DK" sz="900" dirty="0">
                          <a:effectLst/>
                        </a:rPr>
                        <a:t> statements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 dirty="0">
                          <a:effectLst/>
                        </a:rPr>
                        <a:t>neutral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484224"/>
                  </a:ext>
                </a:extLst>
              </a:tr>
              <a:tr h="592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 dirty="0">
                          <a:effectLst/>
                        </a:rPr>
                        <a:t>0.0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 dirty="0">
                          <a:effectLst/>
                        </a:rPr>
                        <a:t>Agilent Technologies, Inc.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effectLst/>
                        </a:rPr>
                        <a:t>President, CEO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effectLst/>
                        </a:rPr>
                        <a:t>forward-looking statements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effectLst/>
                        </a:rPr>
                        <a:t>neutral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441812"/>
                  </a:ext>
                </a:extLst>
              </a:tr>
              <a:tr h="77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effectLst/>
                        </a:rPr>
                        <a:t>0.0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effectLst/>
                        </a:rPr>
                        <a:t>Agilent Technologies, Inc.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 dirty="0" err="1">
                          <a:effectLst/>
                        </a:rPr>
                        <a:t>Executive</a:t>
                      </a:r>
                      <a:r>
                        <a:rPr lang="da-DK" sz="900" dirty="0">
                          <a:effectLst/>
                        </a:rPr>
                        <a:t> Vice </a:t>
                      </a:r>
                      <a:r>
                        <a:rPr lang="da-DK" sz="900" dirty="0" err="1">
                          <a:effectLst/>
                        </a:rPr>
                        <a:t>President</a:t>
                      </a:r>
                      <a:r>
                        <a:rPr lang="da-DK" sz="900" dirty="0">
                          <a:effectLst/>
                        </a:rPr>
                        <a:t>, Finance and </a:t>
                      </a:r>
                      <a:r>
                        <a:rPr lang="da-DK" sz="900" dirty="0" err="1">
                          <a:effectLst/>
                        </a:rPr>
                        <a:t>Administ</a:t>
                      </a:r>
                      <a:r>
                        <a:rPr lang="da-DK" sz="900" dirty="0">
                          <a:effectLst/>
                        </a:rPr>
                        <a:t>...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effectLst/>
                        </a:rPr>
                        <a:t>forward-looking statements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effectLst/>
                        </a:rPr>
                        <a:t>neutral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973745"/>
                  </a:ext>
                </a:extLst>
              </a:tr>
              <a:tr h="411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effectLst/>
                        </a:rPr>
                        <a:t>1.0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effectLst/>
                        </a:rPr>
                        <a:t>Agilent Technologies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effectLst/>
                        </a:rPr>
                        <a:t>CEO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effectLst/>
                        </a:rPr>
                        <a:t>market demand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effectLst/>
                        </a:rPr>
                        <a:t>neutral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79325"/>
                  </a:ext>
                </a:extLst>
              </a:tr>
              <a:tr h="411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 dirty="0">
                          <a:effectLst/>
                        </a:rPr>
                        <a:t>1.0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effectLst/>
                        </a:rPr>
                        <a:t>Agilent Technologies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effectLst/>
                        </a:rPr>
                        <a:t>CEO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effectLst/>
                        </a:rPr>
                        <a:t>competition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 dirty="0">
                          <a:effectLst/>
                        </a:rPr>
                        <a:t>neutral</a:t>
                      </a:r>
                    </a:p>
                  </a:txBody>
                  <a:tcPr marL="37559" marR="37559" marT="18780" marB="18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576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56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71E6077-1159-12DA-886E-3B0A816C0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Comparing</a:t>
            </a:r>
            <a:r>
              <a:rPr lang="da-DK" dirty="0"/>
              <a:t> </a:t>
            </a:r>
            <a:r>
              <a:rPr lang="da-DK" dirty="0" err="1"/>
              <a:t>risks</a:t>
            </a:r>
            <a:endParaRPr lang="da-DK" dirty="0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1AAE1FB7-BFC4-9EEA-38A4-BF8C6767E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Focus </a:t>
            </a:r>
            <a:r>
              <a:rPr lang="da-DK" dirty="0" err="1"/>
              <a:t>competition</a:t>
            </a:r>
            <a:r>
              <a:rPr lang="da-DK" dirty="0"/>
              <a:t> and </a:t>
            </a:r>
            <a:r>
              <a:rPr lang="da-DK" dirty="0" err="1"/>
              <a:t>execution</a:t>
            </a:r>
            <a:endParaRPr lang="da-DK" dirty="0"/>
          </a:p>
        </p:txBody>
      </p:sp>
      <p:pic>
        <p:nvPicPr>
          <p:cNvPr id="10" name="Pladsholder til indhold 9">
            <a:extLst>
              <a:ext uri="{FF2B5EF4-FFF2-40B4-BE49-F238E27FC236}">
                <a16:creationId xmlns:a16="http://schemas.microsoft.com/office/drawing/2014/main" id="{C981FB16-ACF6-4AFA-A4E7-0662B8D5B4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937974"/>
            <a:ext cx="5157787" cy="2818790"/>
          </a:xfrm>
          <a:prstGeom prst="rect">
            <a:avLst/>
          </a:prstGeom>
        </p:spPr>
      </p:pic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24A99D05-929A-8F1A-A509-4C326190A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dirty="0"/>
              <a:t>Focus on the </a:t>
            </a:r>
            <a:r>
              <a:rPr lang="da-DK" dirty="0" err="1"/>
              <a:t>economic</a:t>
            </a:r>
            <a:r>
              <a:rPr lang="da-DK" dirty="0"/>
              <a:t> and </a:t>
            </a:r>
            <a:r>
              <a:rPr lang="da-DK" dirty="0" err="1"/>
              <a:t>market</a:t>
            </a:r>
            <a:r>
              <a:rPr lang="da-DK" dirty="0"/>
              <a:t> </a:t>
            </a:r>
            <a:r>
              <a:rPr lang="da-DK" dirty="0" err="1"/>
              <a:t>condition</a:t>
            </a:r>
            <a:r>
              <a:rPr lang="da-DK" dirty="0"/>
              <a:t> / </a:t>
            </a:r>
            <a:r>
              <a:rPr lang="da-DK" dirty="0" err="1"/>
              <a:t>volatility</a:t>
            </a:r>
            <a:endParaRPr lang="da-DK" dirty="0"/>
          </a:p>
        </p:txBody>
      </p:sp>
      <p:pic>
        <p:nvPicPr>
          <p:cNvPr id="11" name="Pladsholder til indhold 10">
            <a:extLst>
              <a:ext uri="{FF2B5EF4-FFF2-40B4-BE49-F238E27FC236}">
                <a16:creationId xmlns:a16="http://schemas.microsoft.com/office/drawing/2014/main" id="{4FFFC6F3-5A8E-1A7F-7973-A9F56C85ABE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5694" y="2855119"/>
            <a:ext cx="5156200" cy="29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139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6010A7-68F5-473B-4E63-3CB648FA3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590A7A3B-F57F-ADED-A0AF-4B96E60C8A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58412"/>
            <a:ext cx="5181600" cy="4285763"/>
          </a:xfrm>
          <a:prstGeom prst="rect">
            <a:avLst/>
          </a:prstGeom>
        </p:spPr>
      </p:pic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75995146-12C9-4F11-9039-D4C478F058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58412"/>
            <a:ext cx="5181600" cy="428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536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11A3566B-12A4-9513-3259-322D6B216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Combined network</a:t>
            </a:r>
          </a:p>
        </p:txBody>
      </p:sp>
      <p:pic>
        <p:nvPicPr>
          <p:cNvPr id="7" name="Pladsholder til indhold 6">
            <a:extLst>
              <a:ext uri="{FF2B5EF4-FFF2-40B4-BE49-F238E27FC236}">
                <a16:creationId xmlns:a16="http://schemas.microsoft.com/office/drawing/2014/main" id="{581863B4-EA5F-02F4-917E-3AD5411518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1093" y="643466"/>
            <a:ext cx="6513145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57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F004B9-75FB-33DC-7FD3-1CB5717AF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Degree centrality</a:t>
            </a:r>
            <a:endParaRPr lang="da-DK" dirty="0"/>
          </a:p>
        </p:txBody>
      </p:sp>
      <p:pic>
        <p:nvPicPr>
          <p:cNvPr id="7" name="Pladsholder til indhold 6">
            <a:extLst>
              <a:ext uri="{FF2B5EF4-FFF2-40B4-BE49-F238E27FC236}">
                <a16:creationId xmlns:a16="http://schemas.microsoft.com/office/drawing/2014/main" id="{51541548-1EED-F11B-F5DD-3141B56F8A6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41543" y="2052515"/>
            <a:ext cx="5570406" cy="3282279"/>
          </a:xfrm>
          <a:prstGeom prst="rect">
            <a:avLst/>
          </a:prstGeom>
        </p:spPr>
      </p:pic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E8EED88F-7D7A-F960-642F-A823B41AF9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80052" y="2052515"/>
            <a:ext cx="5626764" cy="328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85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222</Words>
  <Application>Microsoft Macintosh PowerPoint</Application>
  <PresentationFormat>Widescreen</PresentationFormat>
  <Paragraphs>80</Paragraphs>
  <Slides>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Office-tema</vt:lpstr>
      <vt:lpstr>NLP exam 2025</vt:lpstr>
      <vt:lpstr>Problem formulation</vt:lpstr>
      <vt:lpstr>LLM – Ollama</vt:lpstr>
      <vt:lpstr>Inspect model output</vt:lpstr>
      <vt:lpstr>Comparing risks</vt:lpstr>
      <vt:lpstr>PowerPoint-præsentation</vt:lpstr>
      <vt:lpstr>Combined network</vt:lpstr>
      <vt:lpstr>Degree centrality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Vittrup Hjerresen</dc:creator>
  <cp:lastModifiedBy>Daniel Vittrup Hjerresen</cp:lastModifiedBy>
  <cp:revision>3</cp:revision>
  <dcterms:created xsi:type="dcterms:W3CDTF">2025-11-13T18:18:23Z</dcterms:created>
  <dcterms:modified xsi:type="dcterms:W3CDTF">2025-11-13T19:13:36Z</dcterms:modified>
</cp:coreProperties>
</file>